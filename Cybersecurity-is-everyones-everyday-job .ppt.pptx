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Atkinson Hyperlegible Next"/>
      <p:regular r:id="rId201314"/>
    </p:embeddedFont>
    <p:embeddedFont>
      <p:font typeface="Atkinson Hyperlegible Next Medium"/>
      <p:regular r:id="rId201315"/>
    </p:embeddedFont>
    <p:embeddedFont>
      <p:font typeface="Atkinson Hyperlegible Next Bold"/>
      <p:regular r:id="rId201316"/>
    </p:embeddedFont>
    <p:embeddedFont>
      <p:font typeface="DM Mono Medium"/>
      <p:regular r:id="rId201317"/>
    </p:embeddedFont>
    <p:embeddedFont>
      <p:font typeface="Rubik SemiBold"/>
      <p:regular r:id="rId201318"/>
    </p:embeddedFont>
    <p:embeddedFont>
      <p:font typeface="Rubik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Cybersecurity is part of ordinary work. The safest culture is built through small choices people can repeat every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platform concept turns awareness into repeatable behavior: teach a short cue, make the action concrete, and make help easy to find.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 message pushes you to act quickly, make the pause visible. Verify through a channel you trust, and keep credentials away from message links.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Account protection is a set of habits, not a single setting. A password manager makes unique passwords practical, and multifactor authentication adds another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CISA describes updating software as one of the easiest ways to stay protected. Pair that habit with approved tools and a locked screen whenever you step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Safe handling is often a small pause before sharing. Check the people, the tool, the recipient, and the account. If the context is unclear, ask before you send.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Reporting is a protective action, not an admission of failure. Say what happened, what you clicked, and when. Those facts help the response start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routine: learn a little, pause and verify before acting, report when something feels wrong, and help others feel capable of doing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B4CD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B4CD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80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182" y="1117600"/>
            <a:ext cx="5333867" cy="4020245"/>
          </a:xfrm>
          <a:prstGeom prst="roundRect">
            <a:avLst>
              <a:gd name="adj" fmla="val 8340"/>
            </a:avLst>
          </a:prstGeom>
          <a:solidFill>
            <a:srgbClr val="FFF8EE"/>
          </a:solidFill>
          <a:ln/>
        </p:spPr>
      </p:sp>
      <p:sp>
        <p:nvSpPr>
          <p:cNvPr id="3" name="Shape 1"/>
          <p:cNvSpPr/>
          <p:nvPr/>
        </p:nvSpPr>
        <p:spPr>
          <a:xfrm>
            <a:off x="1117572" y="1498600"/>
            <a:ext cx="2077489" cy="321965"/>
          </a:xfrm>
          <a:prstGeom prst="roundRect">
            <a:avLst>
              <a:gd name="adj" fmla="val 33133"/>
            </a:avLst>
          </a:prstGeom>
          <a:solidFill>
            <a:srgbClr val="802626"/>
          </a:solidFill>
          <a:ln/>
        </p:spPr>
      </p:sp>
      <p:sp>
        <p:nvSpPr>
          <p:cNvPr id="4" name="Text 2"/>
          <p:cNvSpPr/>
          <p:nvPr/>
        </p:nvSpPr>
        <p:spPr>
          <a:xfrm>
            <a:off x="1244569" y="1566049"/>
            <a:ext cx="2433081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7" kern="100" dirty="0">
                <a:solidFill>
                  <a:srgbClr val="FFF8EE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EVERYDAY SECURITY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17572" y="2098775"/>
            <a:ext cx="4521087" cy="1883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4800" b="1" spc="-96" kern="100" dirty="0">
                <a:solidFill>
                  <a:srgbClr val="5E1C1C"/>
                </a:solidFill>
                <a:latin typeface="Rubik Bold" pitchFamily="34" charset="0"/>
                <a:ea typeface="Rubik Bold" pitchFamily="34" charset="-122"/>
                <a:cs typeface="Rubik Bold" pitchFamily="34" charset="-120"/>
              </a:rPr>
              <a:t>Cybersecurity is everyone’s everyday job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17572" y="4116884"/>
            <a:ext cx="452108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5E1C1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Small choices protect people, accounts, devices, and data.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802626"/>
          </a:solidFill>
          <a:ln/>
        </p:spPr>
      </p:sp>
      <p:sp>
        <p:nvSpPr>
          <p:cNvPr id="3" name="Shape 1"/>
          <p:cNvSpPr/>
          <p:nvPr/>
        </p:nvSpPr>
        <p:spPr>
          <a:xfrm>
            <a:off x="431789" y="355600"/>
            <a:ext cx="1541226" cy="321965"/>
          </a:xfrm>
          <a:prstGeom prst="roundRect">
            <a:avLst>
              <a:gd name="adj" fmla="val 33133"/>
            </a:avLst>
          </a:prstGeom>
          <a:solidFill>
            <a:srgbClr val="B4CDC2"/>
          </a:solidFill>
          <a:ln/>
        </p:spPr>
      </p:sp>
      <p:sp>
        <p:nvSpPr>
          <p:cNvPr id="4" name="Text 2"/>
          <p:cNvSpPr/>
          <p:nvPr/>
        </p:nvSpPr>
        <p:spPr>
          <a:xfrm>
            <a:off x="558786" y="423049"/>
            <a:ext cx="1896817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7" kern="100" dirty="0">
                <a:solidFill>
                  <a:srgbClr val="802626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THE PLATFORM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1789" y="792554"/>
            <a:ext cx="11328117" cy="1206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spc="-66" kern="100" dirty="0">
                <a:solidFill>
                  <a:srgbClr val="B4CDC2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The platform turns awareness into repeatable habits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31789" y="2170212"/>
            <a:ext cx="11759906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B4CDC2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Short cues, practical actions, and an easy path to ask for help.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3657600"/>
            <a:ext cx="3759106" cy="3200400"/>
          </a:xfrm>
          <a:prstGeom prst="roundRect">
            <a:avLst>
              <a:gd name="adj" fmla="val 10476"/>
            </a:avLst>
          </a:prstGeom>
          <a:solidFill>
            <a:srgbClr val="FFF8E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92" y="3962400"/>
            <a:ext cx="406390" cy="406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04792" y="4560094"/>
            <a:ext cx="3149521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E1C1C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Learn in the moment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304792" y="5032375"/>
            <a:ext cx="3149521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5E1C1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Short, timely learning people can use in the moment.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16295" y="3657600"/>
            <a:ext cx="3759106" cy="3200400"/>
          </a:xfrm>
          <a:prstGeom prst="roundRect">
            <a:avLst>
              <a:gd name="adj" fmla="val 10476"/>
            </a:avLst>
          </a:prstGeom>
          <a:solidFill>
            <a:srgbClr val="FFF8E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087" y="3962400"/>
            <a:ext cx="406390" cy="4064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1087" y="4560094"/>
            <a:ext cx="3149521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E1C1C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Practice the basics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4521087" y="5032375"/>
            <a:ext cx="3149521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5E1C1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Simple actions across email, accounts, devices, and data.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8432589" y="3657600"/>
            <a:ext cx="3759106" cy="3200400"/>
          </a:xfrm>
          <a:prstGeom prst="roundRect">
            <a:avLst>
              <a:gd name="adj" fmla="val 10476"/>
            </a:avLst>
          </a:prstGeom>
          <a:solidFill>
            <a:srgbClr val="F99D1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381" y="3962400"/>
            <a:ext cx="406390" cy="4064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37381" y="4560094"/>
            <a:ext cx="3149521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Know where to report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8737381" y="5032375"/>
            <a:ext cx="3149521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Clear reporting paths when something feels wrong.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1608"/>
            <a:ext cx="5821614" cy="932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00" spc="-51" kern="100" dirty="0">
                <a:solidFill>
                  <a:srgbClr val="802626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Spot the signals before you click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585" y="1745456"/>
            <a:ext cx="5821614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5E1C1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Phishing uses social engineering to steal credentials or deliver malware.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9585" y="2720777"/>
            <a:ext cx="394980" cy="381000"/>
          </a:xfrm>
          <a:prstGeom prst="roundRect">
            <a:avLst>
              <a:gd name="adj" fmla="val 44999"/>
            </a:avLst>
          </a:prstGeom>
          <a:solidFill>
            <a:srgbClr val="802626"/>
          </a:solidFill>
          <a:ln/>
        </p:spPr>
      </p:sp>
      <p:sp>
        <p:nvSpPr>
          <p:cNvPr id="5" name="Text 3"/>
          <p:cNvSpPr/>
          <p:nvPr/>
        </p:nvSpPr>
        <p:spPr>
          <a:xfrm>
            <a:off x="704832" y="2816027"/>
            <a:ext cx="81406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FFF8EE"/>
                </a:solidFill>
                <a:latin typeface="Atkinson Hyperlegible Next Medium" pitchFamily="34" charset="0"/>
                <a:ea typeface="Atkinson Hyperlegible Next Medium" pitchFamily="34" charset="-122"/>
                <a:cs typeface="Atkinson Hyperlegible Next Medium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585" y="3183136"/>
            <a:ext cx="1737277" cy="19050"/>
          </a:xfrm>
          <a:prstGeom prst="rect">
            <a:avLst/>
          </a:prstGeom>
          <a:solidFill>
            <a:srgbClr val="F99D1B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3288705"/>
            <a:ext cx="1737277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8026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Pause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09585" y="3700661"/>
            <a:ext cx="1737277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5E1C1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Stop when a message creates urgency, fear, or unusual pressure.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51654" y="2720777"/>
            <a:ext cx="421570" cy="381000"/>
          </a:xfrm>
          <a:prstGeom prst="roundRect">
            <a:avLst>
              <a:gd name="adj" fmla="val 44999"/>
            </a:avLst>
          </a:prstGeom>
          <a:solidFill>
            <a:srgbClr val="802626"/>
          </a:solidFill>
          <a:ln/>
        </p:spPr>
      </p:sp>
      <p:sp>
        <p:nvSpPr>
          <p:cNvPr id="10" name="Text 8"/>
          <p:cNvSpPr/>
          <p:nvPr/>
        </p:nvSpPr>
        <p:spPr>
          <a:xfrm>
            <a:off x="2746902" y="2816027"/>
            <a:ext cx="84065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FFF8EE"/>
                </a:solidFill>
                <a:latin typeface="Atkinson Hyperlegible Next Medium" pitchFamily="34" charset="0"/>
                <a:ea typeface="Atkinson Hyperlegible Next Medium" pitchFamily="34" charset="-122"/>
                <a:cs typeface="Atkinson Hyperlegible Next Medium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651654" y="3183136"/>
            <a:ext cx="1737277" cy="19050"/>
          </a:xfrm>
          <a:prstGeom prst="rect">
            <a:avLst/>
          </a:prstGeom>
          <a:solidFill>
            <a:srgbClr val="F99D1B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654" y="3288705"/>
            <a:ext cx="1737376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8026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Verify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651654" y="3700661"/>
            <a:ext cx="1737376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5E1C1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Check the sender and destination through a trusted channel.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93822" y="2492177"/>
            <a:ext cx="1737376" cy="3756223"/>
          </a:xfrm>
          <a:prstGeom prst="roundRect">
            <a:avLst>
              <a:gd name="adj" fmla="val 19298"/>
            </a:avLst>
          </a:prstGeom>
          <a:solidFill>
            <a:srgbClr val="F99D1B"/>
          </a:solidFill>
          <a:ln/>
        </p:spPr>
      </p:sp>
      <p:sp>
        <p:nvSpPr>
          <p:cNvPr id="15" name="Shape 13"/>
          <p:cNvSpPr/>
          <p:nvPr/>
        </p:nvSpPr>
        <p:spPr>
          <a:xfrm>
            <a:off x="4922417" y="2720777"/>
            <a:ext cx="426531" cy="381000"/>
          </a:xfrm>
          <a:prstGeom prst="ellipse">
            <a:avLst/>
          </a:prstGeom>
          <a:solidFill>
            <a:srgbClr val="80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5017664" y="2816027"/>
            <a:ext cx="8456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FFF8EE"/>
                </a:solidFill>
                <a:latin typeface="Atkinson Hyperlegible Next Medium" pitchFamily="34" charset="0"/>
                <a:ea typeface="Atkinson Hyperlegible Next Medium" pitchFamily="34" charset="-122"/>
                <a:cs typeface="Atkinson Hyperlegible Next Medium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922417" y="3183136"/>
            <a:ext cx="1280088" cy="19050"/>
          </a:xfrm>
          <a:prstGeom prst="rect">
            <a:avLst/>
          </a:prstGeom>
          <a:solidFill>
            <a:srgbClr val="F99D1B"/>
          </a:solidFill>
          <a:ln/>
        </p:spPr>
      </p:sp>
      <p:sp>
        <p:nvSpPr>
          <p:cNvPr id="18" name="Text 16"/>
          <p:cNvSpPr/>
          <p:nvPr/>
        </p:nvSpPr>
        <p:spPr>
          <a:xfrm>
            <a:off x="4922417" y="3288705"/>
            <a:ext cx="1280188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Protect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922417" y="3700661"/>
            <a:ext cx="1280188" cy="1991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Do not open unexpected attachments or enter credentials from a message link.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07457" y="609600"/>
            <a:ext cx="3474653" cy="5638800"/>
          </a:xfrm>
          <a:prstGeom prst="roundRect">
            <a:avLst>
              <a:gd name="adj" fmla="val 12281"/>
            </a:avLst>
          </a:prstGeom>
          <a:noFill/>
          <a:ln w="50799">
            <a:solidFill>
              <a:srgbClr val="691F1F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7457" y="609600"/>
            <a:ext cx="3474653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2184742" cy="321965"/>
          </a:xfrm>
          <a:prstGeom prst="roundRect">
            <a:avLst>
              <a:gd name="adj" fmla="val 33133"/>
            </a:avLst>
          </a:prstGeom>
          <a:solidFill>
            <a:srgbClr val="B4CDC2"/>
          </a:solidFill>
          <a:ln/>
        </p:spPr>
      </p:sp>
      <p:sp>
        <p:nvSpPr>
          <p:cNvPr id="3" name="Text 1"/>
          <p:cNvSpPr/>
          <p:nvPr/>
        </p:nvSpPr>
        <p:spPr>
          <a:xfrm>
            <a:off x="736582" y="677049"/>
            <a:ext cx="2540333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7" kern="100" dirty="0">
                <a:solidFill>
                  <a:srgbClr val="802626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ACCOUNT PROTECTION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36123"/>
            <a:ext cx="10972526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00" spc="-51" kern="100" dirty="0">
                <a:solidFill>
                  <a:srgbClr val="B4CDC2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Protect every account with stronger access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683643"/>
            <a:ext cx="1158211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B4CDC2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Make the account harder to take over, even when a password is exposed.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09585" y="2232223"/>
            <a:ext cx="3454314" cy="4016177"/>
          </a:xfrm>
          <a:prstGeom prst="roundRect">
            <a:avLst>
              <a:gd name="adj" fmla="val 9706"/>
            </a:avLst>
          </a:prstGeom>
          <a:solidFill>
            <a:srgbClr val="B4CDC2"/>
          </a:solidFill>
          <a:ln/>
        </p:spPr>
      </p:sp>
      <p:sp>
        <p:nvSpPr>
          <p:cNvPr id="7" name="Shape 5"/>
          <p:cNvSpPr/>
          <p:nvPr/>
        </p:nvSpPr>
        <p:spPr>
          <a:xfrm>
            <a:off x="838179" y="2460823"/>
            <a:ext cx="571486" cy="571500"/>
          </a:xfrm>
          <a:prstGeom prst="roundRect">
            <a:avLst>
              <a:gd name="adj" fmla="val 50000"/>
            </a:avLst>
          </a:prstGeom>
          <a:solidFill>
            <a:srgbClr val="80262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50" y="2603698"/>
            <a:ext cx="285743" cy="2857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8179" y="3160117"/>
            <a:ext cx="2997125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A1818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Use unique passwords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38179" y="3632398"/>
            <a:ext cx="2997125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5A181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Choose long, random, unique passwords and store them in a password manager.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68691" y="2232223"/>
            <a:ext cx="3454314" cy="4016177"/>
          </a:xfrm>
          <a:prstGeom prst="roundRect">
            <a:avLst>
              <a:gd name="adj" fmla="val 9706"/>
            </a:avLst>
          </a:prstGeom>
          <a:solidFill>
            <a:srgbClr val="B4CDC2"/>
          </a:solidFill>
          <a:ln/>
        </p:spPr>
      </p:sp>
      <p:sp>
        <p:nvSpPr>
          <p:cNvPr id="12" name="Shape 9"/>
          <p:cNvSpPr/>
          <p:nvPr/>
        </p:nvSpPr>
        <p:spPr>
          <a:xfrm>
            <a:off x="4597285" y="2460823"/>
            <a:ext cx="571486" cy="571500"/>
          </a:xfrm>
          <a:prstGeom prst="roundRect">
            <a:avLst>
              <a:gd name="adj" fmla="val 50000"/>
            </a:avLst>
          </a:prstGeom>
          <a:solidFill>
            <a:srgbClr val="80262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0156" y="2603698"/>
            <a:ext cx="285743" cy="2857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97285" y="3160117"/>
            <a:ext cx="2997125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A1818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Aim for 16+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4597285" y="3632398"/>
            <a:ext cx="2997125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5A181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Aim for passwords of at least 16 characters.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127797" y="2232223"/>
            <a:ext cx="3454314" cy="4016177"/>
          </a:xfrm>
          <a:prstGeom prst="roundRect">
            <a:avLst>
              <a:gd name="adj" fmla="val 9706"/>
            </a:avLst>
          </a:prstGeom>
          <a:solidFill>
            <a:srgbClr val="F99D1B"/>
          </a:solidFill>
          <a:ln/>
        </p:spPr>
      </p:sp>
      <p:sp>
        <p:nvSpPr>
          <p:cNvPr id="17" name="Shape 13"/>
          <p:cNvSpPr/>
          <p:nvPr/>
        </p:nvSpPr>
        <p:spPr>
          <a:xfrm>
            <a:off x="8356391" y="2460823"/>
            <a:ext cx="571486" cy="571500"/>
          </a:xfrm>
          <a:prstGeom prst="roundRect">
            <a:avLst>
              <a:gd name="adj" fmla="val 50000"/>
            </a:avLst>
          </a:prstGeom>
          <a:solidFill>
            <a:srgbClr val="80262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262" y="2603698"/>
            <a:ext cx="285743" cy="2857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56391" y="3160117"/>
            <a:ext cx="2997125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A1818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Turn on MFA</a:t>
            </a:r>
            <a:endParaRPr lang="en-US" sz="2100" dirty="0"/>
          </a:p>
        </p:txBody>
      </p:sp>
      <p:sp>
        <p:nvSpPr>
          <p:cNvPr id="20" name="Text 15"/>
          <p:cNvSpPr/>
          <p:nvPr/>
        </p:nvSpPr>
        <p:spPr>
          <a:xfrm>
            <a:off x="8356391" y="3632398"/>
            <a:ext cx="2997125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5A181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Use multifactor authentication wherever it is available.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3474653" cy="5638800"/>
          </a:xfrm>
          <a:prstGeom prst="roundRect">
            <a:avLst>
              <a:gd name="adj" fmla="val 12281"/>
            </a:avLst>
          </a:prstGeom>
          <a:noFill/>
          <a:ln w="50799">
            <a:solidFill>
              <a:srgbClr val="691F1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09600"/>
            <a:ext cx="3474653" cy="563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60497" y="631608"/>
            <a:ext cx="5821614" cy="932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00" spc="-51" kern="100" dirty="0">
                <a:solidFill>
                  <a:srgbClr val="802626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Keep devices ready to defend you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760497" y="1745456"/>
            <a:ext cx="643119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5E1C1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 ready device is easier to trust and easier to protect.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760497" y="2410916"/>
            <a:ext cx="394980" cy="381000"/>
          </a:xfrm>
          <a:prstGeom prst="roundRect">
            <a:avLst>
              <a:gd name="adj" fmla="val 44999"/>
            </a:avLst>
          </a:prstGeom>
          <a:solidFill>
            <a:srgbClr val="802626"/>
          </a:solidFill>
          <a:ln/>
        </p:spPr>
      </p:sp>
      <p:sp>
        <p:nvSpPr>
          <p:cNvPr id="7" name="Text 4"/>
          <p:cNvSpPr/>
          <p:nvPr/>
        </p:nvSpPr>
        <p:spPr>
          <a:xfrm>
            <a:off x="5855744" y="2506166"/>
            <a:ext cx="81406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FFF8EE"/>
                </a:solidFill>
                <a:latin typeface="Atkinson Hyperlegible Next Medium" pitchFamily="34" charset="0"/>
                <a:ea typeface="Atkinson Hyperlegible Next Medium" pitchFamily="34" charset="-122"/>
                <a:cs typeface="Atkinson Hyperlegible Next Medium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760497" y="2873276"/>
            <a:ext cx="1737277" cy="19050"/>
          </a:xfrm>
          <a:prstGeom prst="rect">
            <a:avLst/>
          </a:prstGeom>
          <a:solidFill>
            <a:srgbClr val="F99D1B"/>
          </a:solidFill>
          <a:ln/>
        </p:spPr>
      </p:sp>
      <p:sp>
        <p:nvSpPr>
          <p:cNvPr id="9" name="Text 6"/>
          <p:cNvSpPr/>
          <p:nvPr/>
        </p:nvSpPr>
        <p:spPr>
          <a:xfrm>
            <a:off x="5760497" y="2978845"/>
            <a:ext cx="1737277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8026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Update promptly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760497" y="3390801"/>
            <a:ext cx="1737277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5E1C1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Install software and security updates as soon as they are available.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802566" y="2410916"/>
            <a:ext cx="421570" cy="381000"/>
          </a:xfrm>
          <a:prstGeom prst="roundRect">
            <a:avLst>
              <a:gd name="adj" fmla="val 44999"/>
            </a:avLst>
          </a:prstGeom>
          <a:solidFill>
            <a:srgbClr val="802626"/>
          </a:solidFill>
          <a:ln/>
        </p:spPr>
      </p:sp>
      <p:sp>
        <p:nvSpPr>
          <p:cNvPr id="12" name="Text 9"/>
          <p:cNvSpPr/>
          <p:nvPr/>
        </p:nvSpPr>
        <p:spPr>
          <a:xfrm>
            <a:off x="7897813" y="2506166"/>
            <a:ext cx="84065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FFF8EE"/>
                </a:solidFill>
                <a:latin typeface="Atkinson Hyperlegible Next Medium" pitchFamily="34" charset="0"/>
                <a:ea typeface="Atkinson Hyperlegible Next Medium" pitchFamily="34" charset="-122"/>
                <a:cs typeface="Atkinson Hyperlegible Next Medium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802566" y="2873276"/>
            <a:ext cx="1737277" cy="19050"/>
          </a:xfrm>
          <a:prstGeom prst="rect">
            <a:avLst/>
          </a:prstGeom>
          <a:solidFill>
            <a:srgbClr val="F99D1B"/>
          </a:solidFill>
          <a:ln/>
        </p:spPr>
      </p:sp>
      <p:sp>
        <p:nvSpPr>
          <p:cNvPr id="14" name="Text 11"/>
          <p:cNvSpPr/>
          <p:nvPr/>
        </p:nvSpPr>
        <p:spPr>
          <a:xfrm>
            <a:off x="7802566" y="2978845"/>
            <a:ext cx="1737376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8026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Use approved tools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802566" y="3660676"/>
            <a:ext cx="1737376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5E1C1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Choose approved devices, apps, and storage locations.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844734" y="2182316"/>
            <a:ext cx="1737376" cy="4066084"/>
          </a:xfrm>
          <a:prstGeom prst="roundRect">
            <a:avLst>
              <a:gd name="adj" fmla="val 19298"/>
            </a:avLst>
          </a:prstGeom>
          <a:solidFill>
            <a:srgbClr val="F99D1B"/>
          </a:solidFill>
          <a:ln/>
        </p:spPr>
      </p:sp>
      <p:sp>
        <p:nvSpPr>
          <p:cNvPr id="17" name="Shape 14"/>
          <p:cNvSpPr/>
          <p:nvPr/>
        </p:nvSpPr>
        <p:spPr>
          <a:xfrm>
            <a:off x="10073328" y="2410916"/>
            <a:ext cx="426531" cy="381000"/>
          </a:xfrm>
          <a:prstGeom prst="ellipse">
            <a:avLst/>
          </a:prstGeom>
          <a:solidFill>
            <a:srgbClr val="802626"/>
          </a:solidFill>
          <a:ln/>
        </p:spPr>
      </p:sp>
      <p:sp>
        <p:nvSpPr>
          <p:cNvPr id="18" name="Text 15"/>
          <p:cNvSpPr/>
          <p:nvPr/>
        </p:nvSpPr>
        <p:spPr>
          <a:xfrm>
            <a:off x="10168576" y="2506166"/>
            <a:ext cx="8456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FFF8EE"/>
                </a:solidFill>
                <a:latin typeface="Atkinson Hyperlegible Next Medium" pitchFamily="34" charset="0"/>
                <a:ea typeface="Atkinson Hyperlegible Next Medium" pitchFamily="34" charset="-122"/>
                <a:cs typeface="Atkinson Hyperlegible Next Medium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10073328" y="2873276"/>
            <a:ext cx="1280088" cy="19050"/>
          </a:xfrm>
          <a:prstGeom prst="rect">
            <a:avLst/>
          </a:prstGeom>
          <a:solidFill>
            <a:srgbClr val="F99D1B"/>
          </a:solidFill>
          <a:ln/>
        </p:spPr>
      </p:sp>
      <p:sp>
        <p:nvSpPr>
          <p:cNvPr id="20" name="Text 17"/>
          <p:cNvSpPr/>
          <p:nvPr/>
        </p:nvSpPr>
        <p:spPr>
          <a:xfrm>
            <a:off x="10073328" y="2978845"/>
            <a:ext cx="1280188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Lock when you leave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10073328" y="3660676"/>
            <a:ext cx="1280188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Lock your screen when you step away.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1608"/>
            <a:ext cx="10972526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00" spc="-51" kern="100" dirty="0">
                <a:solidFill>
                  <a:srgbClr val="802626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Make safe handling the default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585" y="1279128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5E1C1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When the safe path is ordinary, sensitive information gets fewer chances to travel the wrong way.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9585" y="1741388"/>
            <a:ext cx="5333867" cy="2101056"/>
          </a:xfrm>
          <a:prstGeom prst="roundRect">
            <a:avLst>
              <a:gd name="adj" fmla="val 15957"/>
            </a:avLst>
          </a:prstGeom>
          <a:solidFill>
            <a:srgbClr val="FFF8E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1969988"/>
            <a:ext cx="406390" cy="40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8179" y="2504182"/>
            <a:ext cx="4876678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E1C1C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Share with care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38179" y="2976463"/>
            <a:ext cx="4876678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5E1C1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Share sensitive information only with the right people and tools.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48244" y="1741388"/>
            <a:ext cx="5333867" cy="2101056"/>
          </a:xfrm>
          <a:prstGeom prst="roundRect">
            <a:avLst>
              <a:gd name="adj" fmla="val 15957"/>
            </a:avLst>
          </a:prstGeom>
          <a:solidFill>
            <a:srgbClr val="FFF8E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838" y="1969988"/>
            <a:ext cx="406390" cy="406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76838" y="2504182"/>
            <a:ext cx="4876678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E1C1C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Check recipients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6476838" y="2976463"/>
            <a:ext cx="5105272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5E1C1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Check recipients before sending confidential files.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09585" y="4147245"/>
            <a:ext cx="5333867" cy="2101155"/>
          </a:xfrm>
          <a:prstGeom prst="roundRect">
            <a:avLst>
              <a:gd name="adj" fmla="val 15957"/>
            </a:avLst>
          </a:prstGeom>
          <a:solidFill>
            <a:srgbClr val="FFF8E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4375845"/>
            <a:ext cx="406390" cy="406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8179" y="4910038"/>
            <a:ext cx="4876678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E1C1C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Keep accounts separate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838179" y="5382320"/>
            <a:ext cx="5105272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5E1C1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Keep work and personal accounts separate.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248244" y="4147245"/>
            <a:ext cx="5333867" cy="2101155"/>
          </a:xfrm>
          <a:prstGeom prst="roundRect">
            <a:avLst>
              <a:gd name="adj" fmla="val 15957"/>
            </a:avLst>
          </a:prstGeom>
          <a:solidFill>
            <a:srgbClr val="F99D1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6838" y="4375845"/>
            <a:ext cx="406390" cy="406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76838" y="4910038"/>
            <a:ext cx="4876678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Stop and ask</a:t>
            </a:r>
            <a:endParaRPr lang="en-US" sz="2100" dirty="0"/>
          </a:p>
        </p:txBody>
      </p:sp>
      <p:sp>
        <p:nvSpPr>
          <p:cNvPr id="19" name="Text 13"/>
          <p:cNvSpPr/>
          <p:nvPr/>
        </p:nvSpPr>
        <p:spPr>
          <a:xfrm>
            <a:off x="6476838" y="5382320"/>
            <a:ext cx="5105272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When in doubt, stop and ask.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2721105" cy="321965"/>
          </a:xfrm>
          <a:prstGeom prst="roundRect">
            <a:avLst>
              <a:gd name="adj" fmla="val 33133"/>
            </a:avLst>
          </a:prstGeom>
          <a:solidFill>
            <a:srgbClr val="802626"/>
          </a:solidFill>
          <a:ln/>
        </p:spPr>
      </p:sp>
      <p:sp>
        <p:nvSpPr>
          <p:cNvPr id="3" name="Text 1"/>
          <p:cNvSpPr/>
          <p:nvPr/>
        </p:nvSpPr>
        <p:spPr>
          <a:xfrm>
            <a:off x="736582" y="677049"/>
            <a:ext cx="3076696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7" kern="100" dirty="0">
                <a:solidFill>
                  <a:srgbClr val="FFF8EE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REPORTING IS PROTECTION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36123"/>
            <a:ext cx="5821614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00" spc="-51" kern="100" dirty="0">
                <a:solidFill>
                  <a:srgbClr val="802626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Report early, without fear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683643"/>
            <a:ext cx="582161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5E1C1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 fast, factual report gives security or IT a chance to contain the problem and protect colleagues.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09585" y="2730004"/>
            <a:ext cx="394980" cy="381000"/>
          </a:xfrm>
          <a:prstGeom prst="roundRect">
            <a:avLst>
              <a:gd name="adj" fmla="val 44999"/>
            </a:avLst>
          </a:prstGeom>
          <a:solidFill>
            <a:srgbClr val="802626"/>
          </a:solidFill>
          <a:ln/>
        </p:spPr>
      </p:sp>
      <p:sp>
        <p:nvSpPr>
          <p:cNvPr id="7" name="Text 5"/>
          <p:cNvSpPr/>
          <p:nvPr/>
        </p:nvSpPr>
        <p:spPr>
          <a:xfrm>
            <a:off x="704832" y="2825254"/>
            <a:ext cx="81406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FFF8EE"/>
                </a:solidFill>
                <a:latin typeface="Atkinson Hyperlegible Next Medium" pitchFamily="34" charset="0"/>
                <a:ea typeface="Atkinson Hyperlegible Next Medium" pitchFamily="34" charset="-122"/>
                <a:cs typeface="Atkinson Hyperlegible Next Medium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585" y="3192363"/>
            <a:ext cx="1737277" cy="19050"/>
          </a:xfrm>
          <a:prstGeom prst="rect">
            <a:avLst/>
          </a:prstGeom>
          <a:solidFill>
            <a:srgbClr val="F99D1B"/>
          </a:solidFill>
          <a:ln/>
        </p:spPr>
      </p:sp>
      <p:sp>
        <p:nvSpPr>
          <p:cNvPr id="9" name="Text 7"/>
          <p:cNvSpPr/>
          <p:nvPr/>
        </p:nvSpPr>
        <p:spPr>
          <a:xfrm>
            <a:off x="609585" y="3297932"/>
            <a:ext cx="1737277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8026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Use one click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09585" y="3709888"/>
            <a:ext cx="1737277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5E1C1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Use the platform’s one-click reporting path for suspicious messages.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51654" y="2730004"/>
            <a:ext cx="421570" cy="381000"/>
          </a:xfrm>
          <a:prstGeom prst="roundRect">
            <a:avLst>
              <a:gd name="adj" fmla="val 44999"/>
            </a:avLst>
          </a:prstGeom>
          <a:solidFill>
            <a:srgbClr val="80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2746902" y="2825254"/>
            <a:ext cx="84065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FFF8EE"/>
                </a:solidFill>
                <a:latin typeface="Atkinson Hyperlegible Next Medium" pitchFamily="34" charset="0"/>
                <a:ea typeface="Atkinson Hyperlegible Next Medium" pitchFamily="34" charset="-122"/>
                <a:cs typeface="Atkinson Hyperlegible Next Medium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651654" y="3192363"/>
            <a:ext cx="1737277" cy="19050"/>
          </a:xfrm>
          <a:prstGeom prst="rect">
            <a:avLst/>
          </a:prstGeom>
          <a:solidFill>
            <a:srgbClr val="F99D1B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654" y="3297932"/>
            <a:ext cx="1737376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8026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Share the facts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651654" y="3709888"/>
            <a:ext cx="1737376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5E1C1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Tell security or IT what happened, what you clicked, and when.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93822" y="2501404"/>
            <a:ext cx="1737376" cy="3746996"/>
          </a:xfrm>
          <a:prstGeom prst="roundRect">
            <a:avLst>
              <a:gd name="adj" fmla="val 19298"/>
            </a:avLst>
          </a:prstGeom>
          <a:solidFill>
            <a:srgbClr val="F99D1B"/>
          </a:solidFill>
          <a:ln/>
        </p:spPr>
      </p:sp>
      <p:sp>
        <p:nvSpPr>
          <p:cNvPr id="17" name="Shape 15"/>
          <p:cNvSpPr/>
          <p:nvPr/>
        </p:nvSpPr>
        <p:spPr>
          <a:xfrm>
            <a:off x="4922417" y="2730004"/>
            <a:ext cx="426531" cy="381000"/>
          </a:xfrm>
          <a:prstGeom prst="ellipse">
            <a:avLst/>
          </a:prstGeom>
          <a:solidFill>
            <a:srgbClr val="80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5017664" y="2825254"/>
            <a:ext cx="8456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FFF8EE"/>
                </a:solidFill>
                <a:latin typeface="Atkinson Hyperlegible Next Medium" pitchFamily="34" charset="0"/>
                <a:ea typeface="Atkinson Hyperlegible Next Medium" pitchFamily="34" charset="-122"/>
                <a:cs typeface="Atkinson Hyperlegible Next Medium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922417" y="3192363"/>
            <a:ext cx="1280088" cy="19050"/>
          </a:xfrm>
          <a:prstGeom prst="rect">
            <a:avLst/>
          </a:prstGeom>
          <a:solidFill>
            <a:srgbClr val="F99D1B"/>
          </a:solidFill>
          <a:ln/>
        </p:spPr>
      </p:sp>
      <p:sp>
        <p:nvSpPr>
          <p:cNvPr id="20" name="Text 18"/>
          <p:cNvSpPr/>
          <p:nvPr/>
        </p:nvSpPr>
        <p:spPr>
          <a:xfrm>
            <a:off x="4922417" y="3297932"/>
            <a:ext cx="1280188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Help contain it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922417" y="3979763"/>
            <a:ext cx="1280188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Fast reporting helps contain the problem and protects colleagues.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07457" y="609600"/>
            <a:ext cx="3474653" cy="5638800"/>
          </a:xfrm>
          <a:prstGeom prst="roundRect">
            <a:avLst>
              <a:gd name="adj" fmla="val 12281"/>
            </a:avLst>
          </a:prstGeom>
          <a:noFill/>
          <a:ln w="50799">
            <a:solidFill>
              <a:srgbClr val="691F1F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7457" y="609600"/>
            <a:ext cx="3474653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1433973" cy="321965"/>
          </a:xfrm>
          <a:prstGeom prst="roundRect">
            <a:avLst>
              <a:gd name="adj" fmla="val 33133"/>
            </a:avLst>
          </a:prstGeom>
          <a:solidFill>
            <a:srgbClr val="B4CDC2"/>
          </a:solidFill>
          <a:ln/>
        </p:spPr>
      </p:sp>
      <p:sp>
        <p:nvSpPr>
          <p:cNvPr id="3" name="Text 1"/>
          <p:cNvSpPr/>
          <p:nvPr/>
        </p:nvSpPr>
        <p:spPr>
          <a:xfrm>
            <a:off x="736582" y="677049"/>
            <a:ext cx="1789564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7" kern="100" dirty="0">
                <a:solidFill>
                  <a:srgbClr val="802626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THE ROUTINE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192604"/>
            <a:ext cx="7101702" cy="1206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spc="-66" kern="100" dirty="0">
                <a:solidFill>
                  <a:srgbClr val="B4CDC2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Small actions create a stronger culture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47684" y="2692944"/>
            <a:ext cx="380990" cy="381000"/>
          </a:xfrm>
          <a:prstGeom prst="roundRect">
            <a:avLst>
              <a:gd name="adj" fmla="val 28000"/>
            </a:avLst>
          </a:prstGeom>
          <a:solidFill>
            <a:srgbClr val="B4CDC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684" y="2692944"/>
            <a:ext cx="380990" cy="381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19170" y="2746573"/>
            <a:ext cx="649211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B4CDC2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Keep learning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219170" y="3218855"/>
            <a:ext cx="649211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B4CDC2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Complete the next short learning module.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7684" y="3995190"/>
            <a:ext cx="380990" cy="381000"/>
          </a:xfrm>
          <a:prstGeom prst="roundRect">
            <a:avLst>
              <a:gd name="adj" fmla="val 28000"/>
            </a:avLst>
          </a:prstGeom>
          <a:solidFill>
            <a:srgbClr val="B4CDC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84" y="3995190"/>
            <a:ext cx="380990" cy="381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19170" y="4048820"/>
            <a:ext cx="649211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B4CDC2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Practice the routine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1219170" y="4521101"/>
            <a:ext cx="649211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B4CDC2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Practice the pause, verify, report routine.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47684" y="5297436"/>
            <a:ext cx="380990" cy="381000"/>
          </a:xfrm>
          <a:prstGeom prst="roundRect">
            <a:avLst>
              <a:gd name="adj" fmla="val 28000"/>
            </a:avLst>
          </a:prstGeom>
          <a:solidFill>
            <a:srgbClr val="B4CDC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84" y="5297436"/>
            <a:ext cx="380990" cy="381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19170" y="5351066"/>
            <a:ext cx="649211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B4CDC2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Build confidence</a:t>
            </a:r>
            <a:endParaRPr lang="en-US" sz="2100" dirty="0"/>
          </a:p>
        </p:txBody>
      </p:sp>
      <p:sp>
        <p:nvSpPr>
          <p:cNvPr id="16" name="Text 11"/>
          <p:cNvSpPr/>
          <p:nvPr/>
        </p:nvSpPr>
        <p:spPr>
          <a:xfrm>
            <a:off x="1219170" y="5823347"/>
            <a:ext cx="649211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B4CDC2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Help teammates build confidence, not fear.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8625565" y="0"/>
            <a:ext cx="3566130" cy="6858000"/>
          </a:xfrm>
          <a:prstGeom prst="roundRect">
            <a:avLst>
              <a:gd name="adj" fmla="val 11966"/>
            </a:avLst>
          </a:prstGeom>
          <a:solidFill>
            <a:srgbClr val="B4CDC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0357" y="304800"/>
            <a:ext cx="2956546" cy="624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2026-10-10T04:45:18Z</dcterms:created>
  <dcterms:modified xsi:type="dcterms:W3CDTF">2026-10-10T04:45:18Z</dcterms:modified>
</cp:coreProperties>
</file>